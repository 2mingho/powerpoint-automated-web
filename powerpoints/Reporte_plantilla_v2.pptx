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REPORT_CLIENT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A500"/>
                </a:solidFill>
                <a:latin typeface="Arial"/>
              </a:defRPr>
            </a:pPr>
            <a:r>
              <a:t>REPORT_DATE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A500"/>
                </a:solidFill>
                <a:latin typeface="Arial"/>
              </a:defRPr>
            </a:pPr>
            <a:r>
              <a:t>Resumen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2222"/>
                </a:solidFill>
                <a:latin typeface="Arial"/>
              </a:defRPr>
            </a:pPr>
            <a:r>
              <a:t>NUMB_MENTIONS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r>
              <a:t>Menciones totales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2222"/>
                </a:solidFill>
                <a:latin typeface="Arial"/>
              </a:defRPr>
            </a:pPr>
            <a:r>
              <a:t>MENTIONS_CHANGE_PCT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286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r>
              <a:t>vs. periodo anterior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2222"/>
                </a:solidFill>
                <a:latin typeface="Arial"/>
              </a:defRPr>
            </a:pPr>
            <a:r>
              <a:t>EST_REACH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86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r>
              <a:t>Alcance estimado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2222"/>
                </a:solidFill>
                <a:latin typeface="Arial"/>
              </a:defRPr>
            </a:pPr>
            <a:r>
              <a:t>REACH_CHANGE_PCT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286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r>
              <a:t>vs. periodo anterior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2222"/>
                </a:solidFill>
                <a:latin typeface="Arial"/>
              </a:defRPr>
            </a:pPr>
            <a:r>
              <a:t>NUMB_PRENSA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r>
              <a:t>Menciones en prensa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00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2222"/>
                </a:solidFill>
                <a:latin typeface="Arial"/>
              </a:defRPr>
            </a:pPr>
            <a:r>
              <a:t>NUMB_REDES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9776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r>
              <a:t>Menciones en redes sociales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200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2222"/>
                </a:solidFill>
                <a:latin typeface="Arial"/>
              </a:defRPr>
            </a:pPr>
            <a:r>
              <a:t>TOP_AUTHORS_SHOWN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9776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r>
              <a:t>Autores destacados analizados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Arial"/>
              </a:defRPr>
            </a:pPr>
            <a:r>
              <a:t>NARRATIVE_OVERVIEW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A500"/>
                </a:solidFill>
                <a:latin typeface="Arial"/>
              </a:defRPr>
            </a:pPr>
            <a:r>
              <a:t>Evolución de la Conversación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188720"/>
            <a:ext cx="8293608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2222"/>
                </a:solidFill>
                <a:latin typeface="Arial"/>
              </a:defRPr>
            </a:pPr>
            <a:r>
              <a:t>CONVERSATION_CHART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A500"/>
                </a:solidFill>
                <a:latin typeface="Arial"/>
              </a:defRPr>
            </a:pPr>
            <a:r>
              <a:t>Evolución del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188720"/>
            <a:ext cx="8293608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2222"/>
                </a:solidFill>
                <a:latin typeface="Arial"/>
              </a:defRPr>
            </a:pPr>
            <a:r>
              <a:t>REACH_TREND_CHART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A500"/>
                </a:solidFill>
                <a:latin typeface="Arial"/>
              </a:defRPr>
            </a:pPr>
            <a:r>
              <a:t>Sentimiento de la Conversación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57800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2222"/>
                </a:solidFill>
                <a:latin typeface="Arial"/>
              </a:defRPr>
            </a:pPr>
            <a:r>
              <a:t>SENTIMENT_PIE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011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Arial"/>
              </a:defRPr>
            </a:pPr>
            <a:r>
              <a:t>NARRATIVE_SENTIMENT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A500"/>
                </a:solidFill>
                <a:latin typeface="Arial"/>
              </a:defRPr>
            </a:pPr>
            <a:r>
              <a:t>Sentimiento por 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18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2222"/>
                </a:solidFill>
                <a:latin typeface="Arial"/>
              </a:defRPr>
            </a:pPr>
            <a:r>
              <a:t>SENTIMENT_BY_SOURCE_CHART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A500"/>
                </a:solidFill>
                <a:latin typeface="Arial"/>
              </a:defRPr>
            </a:pPr>
            <a:r>
              <a:t>Principales Temas de Conversación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0" y="1188720"/>
            <a:ext cx="7205472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2222"/>
                </a:solidFill>
                <a:latin typeface="Arial"/>
              </a:defRPr>
            </a:pPr>
            <a:r>
              <a:t>CLUSTERS_TABLE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Arial"/>
              </a:defRPr>
            </a:pPr>
            <a:r>
              <a:t>NARRATIVE_TOPICS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A500"/>
                </a:solidFill>
                <a:latin typeface="Arial"/>
              </a:defRPr>
            </a:pPr>
            <a:r>
              <a:t>Palabras Clave Más Mencionadas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18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2222"/>
                </a:solidFill>
                <a:latin typeface="Arial"/>
              </a:defRPr>
            </a:pPr>
            <a:r>
              <a:t>KEYWORDS_BAR_CHART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A500"/>
                </a:solidFill>
                <a:latin typeface="Arial"/>
              </a:defRPr>
            </a:pPr>
            <a:r>
              <a:t>Top Hashtags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2222"/>
                </a:solidFill>
                <a:latin typeface="Arial"/>
              </a:defRPr>
            </a:pPr>
            <a:r>
              <a:t>HASHTAGS_BAR_CHART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2222"/>
                </a:solidFill>
                <a:latin typeface="Arial"/>
              </a:defRPr>
            </a:pPr>
            <a:r>
              <a:t>HASHTAGS_TABLE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A500"/>
                </a:solidFill>
                <a:latin typeface="Arial"/>
              </a:defRPr>
            </a:pPr>
            <a:r>
              <a:t>Top Autores de la Conversación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0" y="1188720"/>
            <a:ext cx="7205472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2222"/>
                </a:solidFill>
                <a:latin typeface="Arial"/>
              </a:defRPr>
            </a:pPr>
            <a:r>
              <a:t>TOP_AUTHORS_TABLE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A500"/>
                </a:solidFill>
                <a:latin typeface="Arial"/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NARRATIVE_CLOSING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